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4" r:id="rId3"/>
    <p:sldId id="263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FD73-90E3-4BF4-89C4-B04ABA6C213C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0AED7-6BE2-41FE-9AEE-88C3DF7F3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75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60AED7-6BE2-41FE-9AEE-88C3DF7F378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79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242C2-6C47-A30F-C3CA-B2775224A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B4730B-CBD3-37D2-5F35-88C6E8369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2B57B-DD90-8F1E-A2BE-76813DA8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B4317-C13E-E6B7-6709-13D85CED4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C4A43-177D-6D56-92B2-017456AD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822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303B-558F-CC59-17CC-C9089511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EAA0E-8E19-DFE1-8E6F-8D15D188E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C7A70-B788-1AA7-F968-1FE5775A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3F619-EB4C-1A8B-95F5-311145F8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9548B-F0A1-3EF4-0C6D-1852CFA8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885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7079-00A6-1C47-2657-019BDD53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9B302-DE72-FBB1-E3DD-B5C833FE8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2FE06-6032-AE7C-D99D-E44B9A743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F37F0-0BC1-6D78-C031-B1F12D40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4E40-8638-9059-9C99-86AE6B7E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43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865B2-7A40-0BFE-23DD-976ADCD6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682AA-785E-A186-C877-BA06DD566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F224B-0037-70A6-3985-7CDD8F698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AAF54-05B5-E467-1C05-5F714D12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56792-59E5-5113-8509-85593650E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54213-31B4-06BA-D618-64FCA34E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79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21A4-A142-FC54-2C24-5B63B050F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1AFB4-D1E4-448D-1A5A-B6954D6ED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50E8A-6027-9BFA-884E-3A21BA3D8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75E79-7EAC-2350-ED52-F3175CE8A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6EDD0-D7B3-FBDA-D0AF-B707769E1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21D91A-1AC0-F71F-8B23-C645DEA5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39805-B1F0-CA4C-CEC1-C0B72040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26AC3-8AF6-B548-765C-DA8C5C12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17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3D31B-EBF4-AF0F-07B5-43B0D151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D4BA3-3904-ED96-5820-3D7EE217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ACEAC-051D-B9BD-8497-57D73118C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07AE3-981C-C26E-EB3D-3170159E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54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EDCAE5-7DE3-8547-E980-FCE50963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67F9F-B839-781A-9971-586EF8157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62B29-F3F0-7FB5-C390-FE6369AC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551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7BAF-698A-2891-1E74-487BD41E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3C8EF-51CF-03D8-6E29-FD6C53DC2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6C04D-153D-95D1-D9CD-04C316BE8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BC701-E048-E7F2-BAC5-635399F1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E209E-0E00-B8D6-253D-BBD5983D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BFA01-9E35-8417-454E-F9CE042A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542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8337-F5C6-D336-F0CB-5C483F1A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FDE587-7DFE-6B31-B467-7F85E2B568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654B8-7C2D-7DB5-4CED-E82333D9F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50934-7FDF-ECD4-2FA2-0D9B6598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EAFEE-2EDF-EC0F-4EEB-703A82A1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EFB59-354E-628F-E6B2-8B21BC77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93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86CE-99BF-ED4D-7E53-E921AB34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026AB-6BE8-E428-7A28-2417118C6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08C7F-D884-CA53-BB3D-EF6BA8A0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E9DF5-FEF3-51F3-6B9D-9DC70FB4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3E0F1-E46C-6306-9E7B-04B5B69F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67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C86434-4391-D516-A147-5B672F766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4BC7C-342C-EB4B-6D74-35E2D7FF6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F629C-7F4B-C483-E8D6-7A14404FA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0399D-63CF-446C-96A3-DFE095CB8109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8541D-3D75-5416-3CDA-8FA76670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BA64F-D57D-84A1-93DB-DEAB2513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A37B01-08DE-A1AC-C5CE-8E3B8E72E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CE41-ACFA-D485-D6C3-2FC62BB9B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B92A4-F9CF-0482-17DB-BD116A9C3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0399D-63CF-446C-96A3-DFE095CB8109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C01D7-9665-AE80-9851-8F6FD872F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C344C-17D3-DFCF-9985-C755468FD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60A82-F24F-45ED-A7CC-F14170FE2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63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9E405-9A83-081F-21E8-E7B1C2597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87184-FC90-6A39-DABC-B92D7EEC3E24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7CAC12-C6E1-BE73-8BC3-4C05801AC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482" y="1067665"/>
            <a:ext cx="7158230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Business Problem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C86F4D-28F8-90E1-A9E8-00282069AC9A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14F31-1FCA-65EE-95B9-BC4FA2A71EF7}"/>
              </a:ext>
            </a:extLst>
          </p:cNvPr>
          <p:cNvSpPr txBox="1"/>
          <p:nvPr/>
        </p:nvSpPr>
        <p:spPr>
          <a:xfrm>
            <a:off x="824482" y="2016681"/>
            <a:ext cx="968620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An insurance company wants to </a:t>
            </a:r>
            <a:r>
              <a:rPr lang="en-IN" sz="2400" dirty="0" err="1"/>
              <a:t>analyze</a:t>
            </a:r>
            <a:r>
              <a:rPr lang="en-IN" sz="2400" dirty="0"/>
              <a:t> its policyholder and claims data to better understand customer profiles, claim patterns, and potential risk factors. </a:t>
            </a:r>
          </a:p>
          <a:p>
            <a:endParaRPr lang="en-IN" sz="2400" dirty="0"/>
          </a:p>
          <a:p>
            <a:r>
              <a:rPr lang="en-IN" sz="2400" dirty="0"/>
              <a:t>The objective is to monitor policy performance, evaluate claim trends, identify high-risk customer segments, and support data-driven decisions that improve risk management, pricing strategies, and customer service.</a:t>
            </a:r>
          </a:p>
        </p:txBody>
      </p:sp>
    </p:spTree>
    <p:extLst>
      <p:ext uri="{BB962C8B-B14F-4D97-AF65-F5344CB8AC3E}">
        <p14:creationId xmlns:p14="http://schemas.microsoft.com/office/powerpoint/2010/main" val="3768645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2B3F6-C413-C178-E520-FF59DAB6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9822C77-603A-0BBE-8BE4-E4A0AECEE0C1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607B3B-2600-D6F8-1D20-30C1FEB3B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482" y="1067665"/>
            <a:ext cx="7158230" cy="706437"/>
          </a:xfrm>
        </p:spPr>
        <p:txBody>
          <a:bodyPr>
            <a:noAutofit/>
          </a:bodyPr>
          <a:lstStyle/>
          <a:p>
            <a:pPr algn="l"/>
            <a:r>
              <a:rPr lang="en-IN" sz="3600" b="1" dirty="0"/>
              <a:t>Business Requirement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4E9E6B-0E12-EE78-1351-C3731115DBC3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46C220-3E2A-43B4-ED35-3DEAE7D70FD6}"/>
              </a:ext>
            </a:extLst>
          </p:cNvPr>
          <p:cNvSpPr txBox="1"/>
          <p:nvPr/>
        </p:nvSpPr>
        <p:spPr>
          <a:xfrm>
            <a:off x="824482" y="1898694"/>
            <a:ext cx="1084640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The business requires an interactive dashboard that enables stakeholders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Monitor the overall policy portfolio and claim performance.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Track total claim amounts and claim frequency over time.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 err="1"/>
              <a:t>Analyze</a:t>
            </a:r>
            <a:r>
              <a:rPr lang="en-IN" sz="2200" dirty="0"/>
              <a:t> customer demographics such as age, gender, education, and marital status.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Evaluate insurance policies based on vehicle usage, vehicle brand, and manufacturing year.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Compare policy and claim distribution across different coverage zones.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Identify high-risk customer segments to improve underwriting decisions.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Enable dynamic analysis by switching between </a:t>
            </a:r>
            <a:r>
              <a:rPr lang="en-IN" sz="2200" b="1" dirty="0"/>
              <a:t>Total Policies</a:t>
            </a:r>
            <a:r>
              <a:rPr lang="en-IN" sz="2200" dirty="0"/>
              <a:t> and </a:t>
            </a:r>
            <a:r>
              <a:rPr lang="en-IN" sz="2200" b="1" dirty="0"/>
              <a:t>Total Claim Amount</a:t>
            </a:r>
            <a:r>
              <a:rPr lang="en-IN" sz="22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Support strategic decision-making through interactive filtering and visual analytics. </a:t>
            </a:r>
          </a:p>
        </p:txBody>
      </p:sp>
    </p:spTree>
    <p:extLst>
      <p:ext uri="{BB962C8B-B14F-4D97-AF65-F5344CB8AC3E}">
        <p14:creationId xmlns:p14="http://schemas.microsoft.com/office/powerpoint/2010/main" val="135428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5FA28-01E8-7B1B-20C3-B3E2C0CB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4108F92-0202-AEF9-9AC4-87589A800EA8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6C429-BADF-ACF0-4EFA-4748DABD0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882" y="825086"/>
            <a:ext cx="7066790" cy="706437"/>
          </a:xfrm>
        </p:spPr>
        <p:txBody>
          <a:bodyPr>
            <a:noAutofit/>
          </a:bodyPr>
          <a:lstStyle/>
          <a:p>
            <a:pPr algn="l"/>
            <a:r>
              <a:rPr lang="en-IN" sz="3200" b="1" dirty="0"/>
              <a:t>Key Performance Indicators (KPIs)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C21609-CDF2-2CCE-AE75-9BD5AA46F192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3D98E-22BA-0BAE-AEB8-C2CCDEBCB7D5}"/>
              </a:ext>
            </a:extLst>
          </p:cNvPr>
          <p:cNvSpPr txBox="1"/>
          <p:nvPr/>
        </p:nvSpPr>
        <p:spPr>
          <a:xfrm>
            <a:off x="595882" y="1623014"/>
            <a:ext cx="1057356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 dashboard should provide the following KPIs: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Total Policies</a:t>
            </a:r>
            <a:r>
              <a:rPr lang="en-IN" sz="2400" dirty="0"/>
              <a:t> – Total number of active insurance policies.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Total Claim Amount</a:t>
            </a:r>
            <a:r>
              <a:rPr lang="en-IN" sz="2400" dirty="0"/>
              <a:t> – Total amount claimed by policyholders.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Claim Frequency</a:t>
            </a:r>
            <a:r>
              <a:rPr lang="en-IN" sz="2400" dirty="0"/>
              <a:t> – Number of claims filed during the selected period.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Average Claim Amount</a:t>
            </a:r>
            <a:r>
              <a:rPr lang="en-IN" sz="2400" dirty="0"/>
              <a:t> – Average value of each insurance claim.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Gender-wise Total Policies</a:t>
            </a:r>
            <a:r>
              <a:rPr lang="en-IN" sz="2400" dirty="0"/>
              <a:t> – Distribution of active policies across male and female customers. </a:t>
            </a:r>
          </a:p>
          <a:p>
            <a:endParaRPr lang="en-IN" sz="2400" dirty="0"/>
          </a:p>
          <a:p>
            <a:r>
              <a:rPr lang="en-IN" sz="2400" dirty="0"/>
              <a:t>These KPIs provide an overview of the company's policy portfolio, claim performance, and customer segmentation.</a:t>
            </a:r>
          </a:p>
        </p:txBody>
      </p:sp>
    </p:spTree>
    <p:extLst>
      <p:ext uri="{BB962C8B-B14F-4D97-AF65-F5344CB8AC3E}">
        <p14:creationId xmlns:p14="http://schemas.microsoft.com/office/powerpoint/2010/main" val="4266105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61516-90ED-7087-0B99-0BE2D1358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54FEE9C-3B52-A360-8A73-C417D6EED516}"/>
              </a:ext>
            </a:extLst>
          </p:cNvPr>
          <p:cNvSpPr/>
          <p:nvPr/>
        </p:nvSpPr>
        <p:spPr>
          <a:xfrm>
            <a:off x="-2" y="306767"/>
            <a:ext cx="12191999" cy="5183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  <a:highlight>
                <a:srgbClr val="800080"/>
              </a:highligh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93260-B253-CB75-0FFF-E00189935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626" y="627219"/>
            <a:ext cx="8849870" cy="706437"/>
          </a:xfrm>
        </p:spPr>
        <p:txBody>
          <a:bodyPr>
            <a:noAutofit/>
          </a:bodyPr>
          <a:lstStyle/>
          <a:p>
            <a:pPr algn="l"/>
            <a:r>
              <a:rPr lang="en-IN" sz="2800" b="1" dirty="0"/>
              <a:t>Dashboard Visualization Requirements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142A03-F3D6-CCB2-277A-BEFA583480B9}"/>
              </a:ext>
            </a:extLst>
          </p:cNvPr>
          <p:cNvSpPr/>
          <p:nvPr/>
        </p:nvSpPr>
        <p:spPr>
          <a:xfrm>
            <a:off x="-1" y="6345935"/>
            <a:ext cx="12191999" cy="1176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B6B9B-D0B2-0D4A-340E-6FAFDC612778}"/>
              </a:ext>
            </a:extLst>
          </p:cNvPr>
          <p:cNvSpPr txBox="1"/>
          <p:nvPr/>
        </p:nvSpPr>
        <p:spPr>
          <a:xfrm>
            <a:off x="452284" y="1323701"/>
            <a:ext cx="11139948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b="1" dirty="0"/>
              <a:t>Policies/Claims by Car Use (Donut Chart)</a:t>
            </a:r>
            <a:r>
              <a:rPr lang="en-IN" sz="1700" dirty="0"/>
              <a:t> – Compare policy count and claim amount based on vehicle usage (Personal, Commercial, etc.).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b="1" dirty="0"/>
              <a:t>Policies/Claims by Car Make (Bar Chart)</a:t>
            </a:r>
            <a:r>
              <a:rPr lang="en-IN" sz="1700" dirty="0"/>
              <a:t> – </a:t>
            </a:r>
            <a:r>
              <a:rPr lang="en-IN" sz="1700" dirty="0" err="1"/>
              <a:t>Analyze</a:t>
            </a:r>
            <a:r>
              <a:rPr lang="en-IN" sz="1700" dirty="0"/>
              <a:t> insurance performance across different vehicle manufacturers.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b="1" dirty="0"/>
              <a:t>Policies/Claims by Coverage Zone (Donut Chart)</a:t>
            </a:r>
            <a:r>
              <a:rPr lang="en-IN" sz="1700" dirty="0"/>
              <a:t> – Evaluate policy distribution and claim amount by geographical coverage zones.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b="1" dirty="0"/>
              <a:t>Policies/Claims by Age Group (Histogram/Column Chart)</a:t>
            </a:r>
            <a:r>
              <a:rPr lang="en-IN" sz="1700" dirty="0"/>
              <a:t> – </a:t>
            </a:r>
            <a:r>
              <a:rPr lang="en-IN" sz="1700" dirty="0" err="1"/>
              <a:t>Analyze</a:t>
            </a:r>
            <a:r>
              <a:rPr lang="en-IN" sz="1700" dirty="0"/>
              <a:t> customer age distribution and identify high-risk age groups.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b="1" dirty="0"/>
              <a:t>Policies/Claims by Car Year (Area Chart)</a:t>
            </a:r>
            <a:r>
              <a:rPr lang="en-IN" sz="1700" dirty="0"/>
              <a:t> – Evaluate the relationship between vehicle age and insurance claims.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b="1" dirty="0"/>
              <a:t>Policies/Claims by Kids Driving (Ribbon Chart)</a:t>
            </a:r>
            <a:r>
              <a:rPr lang="en-IN" sz="1700" dirty="0"/>
              <a:t> – Compare claim trends based on the number of young drivers in the household.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b="1" dirty="0"/>
              <a:t>Policies/Claims by Education (Pie Chart)</a:t>
            </a:r>
            <a:r>
              <a:rPr lang="en-IN" sz="1700" dirty="0"/>
              <a:t> – </a:t>
            </a:r>
            <a:r>
              <a:rPr lang="en-IN" sz="1700" dirty="0" err="1"/>
              <a:t>Analyze</a:t>
            </a:r>
            <a:r>
              <a:rPr lang="en-IN" sz="1700" dirty="0"/>
              <a:t> policy distribution across different education levels.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b="1" dirty="0"/>
              <a:t>Policies/Claims by Education &amp; Marital Status (Matrix Heatmap)</a:t>
            </a:r>
            <a:r>
              <a:rPr lang="en-IN" sz="1700" dirty="0"/>
              <a:t> – Explore customer demographics to identify policy and claim patterns. </a:t>
            </a:r>
          </a:p>
          <a:p>
            <a:r>
              <a:rPr lang="en-IN" sz="1700" b="1" u="sng" dirty="0"/>
              <a:t>Interactive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Dynamic Measure Selector</a:t>
            </a:r>
            <a:r>
              <a:rPr lang="en-IN" sz="1700" dirty="0"/>
              <a:t> – Switch between </a:t>
            </a:r>
            <a:r>
              <a:rPr lang="en-IN" sz="1700" b="1" dirty="0"/>
              <a:t>Total Policies</a:t>
            </a:r>
            <a:r>
              <a:rPr lang="en-IN" sz="1700" dirty="0"/>
              <a:t> and </a:t>
            </a:r>
            <a:r>
              <a:rPr lang="en-IN" sz="1700" b="1" dirty="0"/>
              <a:t>Total Claim Amount</a:t>
            </a:r>
            <a:r>
              <a:rPr lang="en-IN" sz="1700" dirty="0"/>
              <a:t> across all applicable visuals.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dirty="0"/>
              <a:t>Interactive Cross-Filtering</a:t>
            </a:r>
            <a:r>
              <a:rPr lang="en-IN" sz="1700" dirty="0"/>
              <a:t> – Enable users to drill down into customer demographics, vehicle information, and claim </a:t>
            </a:r>
            <a:r>
              <a:rPr lang="en-IN" sz="1700" dirty="0" err="1"/>
              <a:t>behavior</a:t>
            </a:r>
            <a:r>
              <a:rPr lang="en-IN" sz="17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117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3670</TotalTime>
  <Words>474</Words>
  <Application>Microsoft Office PowerPoint</Application>
  <PresentationFormat>Widescreen</PresentationFormat>
  <Paragraphs>37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Business Problem</vt:lpstr>
      <vt:lpstr>Business Requirement</vt:lpstr>
      <vt:lpstr>Key Performance Indicators (KPIs)</vt:lpstr>
      <vt:lpstr>Dashboard Visualization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Ramjeevan Sharma</dc:creator>
  <cp:lastModifiedBy>Umesh Chand Yadav</cp:lastModifiedBy>
  <cp:revision>2</cp:revision>
  <dcterms:created xsi:type="dcterms:W3CDTF">2026-06-18T06:15:54Z</dcterms:created>
  <dcterms:modified xsi:type="dcterms:W3CDTF">2026-10-23T05:03:24Z</dcterms:modified>
</cp:coreProperties>
</file>